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ae17d347-447d-eb31-45fa-d50c9642bce2}">
          <p14:sldIdLst>
            <p14:sldId id="256"/>
          </p14:sldIdLst>
        </p14:section>
        <p14:section name="Contexto" id="{031cd321-b81e-c673-b2e3-a65940a430cc}">
          <p14:sldIdLst>
            <p14:sldId id="257"/>
            <p14:sldId id="258"/>
          </p14:sldIdLst>
        </p14:section>
        <p14:section name="Solución" id="{8d320173-a0e1-acd8-4659-75d12f3f495d}">
          <p14:sldIdLst>
            <p14:sldId id="259"/>
            <p14:sldId id="260"/>
            <p14:sldId id="261"/>
            <p14:sldId id="262"/>
            <p14:sldId id="263"/>
          </p14:sldIdLst>
        </p14:section>
        <p14:section name="Demo" id="{618a713d-f7eb-f884-759f-86279425b008}">
          <p14:sldIdLst>
            <p14:sldId id="264"/>
            <p14:sldId id="265"/>
            <p14:sldId id="266"/>
            <p14:sldId id="267"/>
          </p14:sldIdLst>
        </p14:section>
        <p14:section name="Resultados" id="{5a235985-c3e4-6f94-513f-9c968586f90c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Cruz del Sur, una app Android para la trazabilidad del equipaje de bodega, conectada a un backend serverless en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Cruz del Sur opera desde 1960. Nos enfocamos solo en el proceso de equipaje de bodega: recepción en counter, carga, escala y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contraste en papel identifica la maleta al inicio y al final, pero no deja evidencia de la carga ni de la escala. Eso afecta al personal, al pasajero y a la atención de reclamos.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perfiles: el operario trabaja con sesión; el pasajero consulta sin cuenta. Todo vive en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implementó en código el flujo completo de autenticación, registro, consulta, detalle, edición y eliminación. El control de ruta con QR y las incidencias quedan en el prototipo.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las 10 historias, 5 están implementadas, 2 parciales (recuperar contraseña y manifiesto) y 3 quedan en el prototipo.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sigue la arquitectura del curso: presentación con ViewModel y StateFlow, dominio con casos de uso y datos con Retrofit. Hilt arma un cliente por API y un interceptor agrega el token. En AWS hay una API, una Lambda en Python y una tabla por entidad.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tablas independientes con su propia clave de partición. El código de rastreo se arma con las tres letras del destino y los últimos seis caracteres del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operario inicia sesión con su código de colaborador. Si las credenciales son incorrectas, el servidor responde 401 y la app lo muestra en un mensaje sin cerrarse.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manifiesto es la pantalla de inicio del operario: agrupa las unidades por destino y calcula los totales con los datos del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formulario sirve para registrar y editar. Al guardar, la Lambda genera el identificador y el código de rastreo.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pasajero escribe su nombre, boleto o código y ve el estado de su equipaje sin iniciar sesión. El operario además puede editar o eliminar desde el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solo se verificó que compile: se ejecutó la app real contra el backend real y se revisó el resultado en DynamoDB.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reemplaza el registro solo en papel por evidencia digital consultable. Lo siguiente es el control de ruta con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4" name="Image 0" descr="Isotipo de Cruz del S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Cruz del Sur · Trazabilidad del equipaje de bodega · IS276 Grupo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redneurocom/cruzdelsurapp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5" Type="http://schemas.openxmlformats.org/officeDocument/2006/relationships/image" Target="../media/image-15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trella de fondo" descr="Isotipo de Cruz del Sur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863840" y="-1280160"/>
            <a:ext cx="5669280" cy="5669280"/>
          </a:xfrm>
          <a:prstGeom prst="rect">
            <a:avLst/>
          </a:prstGeom>
        </p:spPr>
      </p:pic>
      <p:pic>
        <p:nvPicPr>
          <p:cNvPr id="3" name="isotipo" descr="Isotipo de Cruz del S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83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588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bg1"/>
                </a:solidFill>
              </a:rPr>
              <a:t>CRUZ DEL SUR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del equipaje de bodega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474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App Android + backend serverless en AWS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4348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IS276 · Plataformas Móviles y Análisis Cloud · UPC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Docente: Jorge Rosvin Narváez Villacorta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Salinas Cari, Jose Alcibiades  ·  Yllisca Chipana, Mario Renato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Puma Jiménez, Josué Benjamín</a:t>
            </a:r>
            <a:endParaRPr lang="en-US" sz="1400" dirty="0"/>
          </a:p>
        </p:txBody>
      </p:sp>
      <p:pic>
        <p:nvPicPr>
          <p:cNvPr id="8" name="ilustración bus" descr="Ilustración de bus interprovinci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1168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 empresa y el proceso en estudio</a:t>
            </a:r>
            <a:endParaRPr lang="en-US" sz="3400" dirty="0"/>
          </a:p>
        </p:txBody>
      </p:sp>
      <p:sp>
        <p:nvSpPr>
          <p:cNvPr id="4" name="tarjeta Desde 1960"/>
          <p:cNvSpPr/>
          <p:nvPr/>
        </p:nvSpPr>
        <p:spPr>
          <a:xfrm>
            <a:off x="548640" y="1554480"/>
            <a:ext cx="48463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icono Desde 1960"/>
          <p:cNvSpPr/>
          <p:nvPr/>
        </p:nvSpPr>
        <p:spPr>
          <a:xfrm>
            <a:off x="777240" y="1810512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935236"/>
            <a:ext cx="317480" cy="317480"/>
          </a:xfrm>
          <a:prstGeom prst="rect">
            <a:avLst/>
          </a:prstGeom>
        </p:spPr>
      </p:pic>
      <p:sp>
        <p:nvSpPr>
          <p:cNvPr id="7" name="texto Desde 1960"/>
          <p:cNvSpPr txBox="1"/>
          <p:nvPr/>
        </p:nvSpPr>
        <p:spPr>
          <a:xfrm>
            <a:off x="1545336" y="1764792"/>
            <a:ext cx="3712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Desde 1960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Transporte terrestre interprovincial; fundada en La Punta de Bombón, Arequipa.</a:t>
            </a:r>
            <a:endParaRPr lang="en-US" sz="1700" dirty="0"/>
          </a:p>
        </p:txBody>
      </p:sp>
      <p:sp>
        <p:nvSpPr>
          <p:cNvPr id="8" name="tarjeta Misión"/>
          <p:cNvSpPr/>
          <p:nvPr/>
        </p:nvSpPr>
        <p:spPr>
          <a:xfrm>
            <a:off x="548640" y="3063240"/>
            <a:ext cx="48463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icono Misión"/>
          <p:cNvSpPr/>
          <p:nvPr/>
        </p:nvSpPr>
        <p:spPr>
          <a:xfrm>
            <a:off x="777240" y="3319272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64" y="3443996"/>
            <a:ext cx="317480" cy="317480"/>
          </a:xfrm>
          <a:prstGeom prst="rect">
            <a:avLst/>
          </a:prstGeom>
        </p:spPr>
      </p:pic>
      <p:sp>
        <p:nvSpPr>
          <p:cNvPr id="11" name="texto Misión"/>
          <p:cNvSpPr txBox="1"/>
          <p:nvPr/>
        </p:nvSpPr>
        <p:spPr>
          <a:xfrm>
            <a:off x="1545336" y="3273552"/>
            <a:ext cx="3712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Misión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Crear experiencias de viaje únicas con una propuesta confiable, eficiente y de calidad.</a:t>
            </a:r>
            <a:endParaRPr lang="en-US" sz="1700" dirty="0"/>
          </a:p>
        </p:txBody>
      </p:sp>
      <p:sp>
        <p:nvSpPr>
          <p:cNvPr id="12" name="tarjeta Visión"/>
          <p:cNvSpPr/>
          <p:nvPr/>
        </p:nvSpPr>
        <p:spPr>
          <a:xfrm>
            <a:off x="548640" y="4572000"/>
            <a:ext cx="48463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icono Visión"/>
          <p:cNvSpPr/>
          <p:nvPr/>
        </p:nvSpPr>
        <p:spPr>
          <a:xfrm>
            <a:off x="777240" y="4828032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4952756"/>
            <a:ext cx="317480" cy="317480"/>
          </a:xfrm>
          <a:prstGeom prst="rect">
            <a:avLst/>
          </a:prstGeom>
        </p:spPr>
      </p:pic>
      <p:sp>
        <p:nvSpPr>
          <p:cNvPr id="15" name="texto Visión"/>
          <p:cNvSpPr txBox="1"/>
          <p:nvPr/>
        </p:nvSpPr>
        <p:spPr>
          <a:xfrm>
            <a:off x="1545336" y="4782312"/>
            <a:ext cx="3712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Visión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 el referente del transporte de pasajeros y carga en el Perú y Sudamérica.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852160" y="15544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Proceso de equipaje de bodega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560820" y="2697480"/>
            <a:ext cx="43434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18" name="etapa Recepción"/>
          <p:cNvSpPr/>
          <p:nvPr/>
        </p:nvSpPr>
        <p:spPr>
          <a:xfrm>
            <a:off x="6126480" y="2240280"/>
            <a:ext cx="914400" cy="914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4688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5216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Recepción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85216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Counter</a:t>
            </a:r>
            <a:endParaRPr lang="en-US" sz="1200" dirty="0"/>
          </a:p>
        </p:txBody>
      </p:sp>
      <p:sp>
        <p:nvSpPr>
          <p:cNvPr id="22" name="etapa Carga"/>
          <p:cNvSpPr/>
          <p:nvPr/>
        </p:nvSpPr>
        <p:spPr>
          <a:xfrm>
            <a:off x="7589520" y="2240280"/>
            <a:ext cx="914400" cy="914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4688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1520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Carga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731520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Bodega</a:t>
            </a:r>
            <a:endParaRPr lang="en-US" sz="1200" dirty="0"/>
          </a:p>
        </p:txBody>
      </p:sp>
      <p:sp>
        <p:nvSpPr>
          <p:cNvPr id="26" name="etapa Escala"/>
          <p:cNvSpPr/>
          <p:nvPr/>
        </p:nvSpPr>
        <p:spPr>
          <a:xfrm>
            <a:off x="9052560" y="2240280"/>
            <a:ext cx="914400" cy="914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246888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77824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Escala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877824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Bodega</a:t>
            </a:r>
            <a:endParaRPr lang="en-US" sz="1200" dirty="0"/>
          </a:p>
        </p:txBody>
      </p:sp>
      <p:sp>
        <p:nvSpPr>
          <p:cNvPr id="30" name="etapa Entrega"/>
          <p:cNvSpPr/>
          <p:nvPr/>
        </p:nvSpPr>
        <p:spPr>
          <a:xfrm>
            <a:off x="10515600" y="2240280"/>
            <a:ext cx="914400" cy="914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2468880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24128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Entrega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1024128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Bodega</a:t>
            </a:r>
            <a:endParaRPr lang="en-US" sz="1200" dirty="0"/>
          </a:p>
        </p:txBody>
      </p:sp>
      <p:sp>
        <p:nvSpPr>
          <p:cNvPr id="34" name="política de calidad"/>
          <p:cNvSpPr/>
          <p:nvPr/>
        </p:nvSpPr>
        <p:spPr>
          <a:xfrm>
            <a:off x="5852160" y="4343400"/>
            <a:ext cx="57607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35" name="icono Política de calidad"/>
          <p:cNvSpPr/>
          <p:nvPr/>
        </p:nvSpPr>
        <p:spPr>
          <a:xfrm>
            <a:off x="6080760" y="45720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484" y="4696724"/>
            <a:ext cx="317480" cy="317480"/>
          </a:xfrm>
          <a:prstGeom prst="rect">
            <a:avLst/>
          </a:prstGeom>
        </p:spPr>
      </p:pic>
      <p:sp>
        <p:nvSpPr>
          <p:cNvPr id="37" name="texto Política de calidad"/>
          <p:cNvSpPr txBox="1"/>
          <p:nvPr/>
        </p:nvSpPr>
        <p:spPr>
          <a:xfrm>
            <a:off x="6848856" y="4526280"/>
            <a:ext cx="4626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Política de calidad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Recepción, custodia y entrega son puntos de contacto con el pasajero: su trazabilidad aporta directamente a ese lineamiento.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contraste en papel no deja rastro entre carga y escala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54480" y="2057400"/>
            <a:ext cx="301752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057400"/>
            <a:ext cx="30175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589520" y="2057400"/>
            <a:ext cx="30175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</a:ln>
        </p:spPr>
      </p:sp>
      <p:sp>
        <p:nvSpPr>
          <p:cNvPr id="7" name="nodo Recepción"/>
          <p:cNvSpPr/>
          <p:nvPr/>
        </p:nvSpPr>
        <p:spPr>
          <a:xfrm>
            <a:off x="1188720" y="1691640"/>
            <a:ext cx="731520" cy="73152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Recepción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Contraste en papel</a:t>
            </a:r>
            <a:endParaRPr lang="en-US" sz="1600" dirty="0"/>
          </a:p>
        </p:txBody>
      </p:sp>
      <p:sp>
        <p:nvSpPr>
          <p:cNvPr id="10" name="nodo Carga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Carga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Sin registro</a:t>
            </a:r>
            <a:endParaRPr lang="en-US" sz="1600" dirty="0"/>
          </a:p>
        </p:txBody>
      </p:sp>
      <p:sp>
        <p:nvSpPr>
          <p:cNvPr id="13" name="nodo Escala"/>
          <p:cNvSpPr/>
          <p:nvPr/>
        </p:nvSpPr>
        <p:spPr>
          <a:xfrm>
            <a:off x="7223760" y="1691640"/>
            <a:ext cx="731520" cy="7315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745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7512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Escala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Sin registro</a:t>
            </a:r>
            <a:endParaRPr lang="en-US" sz="1600" dirty="0"/>
          </a:p>
        </p:txBody>
      </p:sp>
      <p:sp>
        <p:nvSpPr>
          <p:cNvPr id="16" name="nodo Entrega"/>
          <p:cNvSpPr/>
          <p:nvPr/>
        </p:nvSpPr>
        <p:spPr>
          <a:xfrm>
            <a:off x="10241280" y="1691640"/>
            <a:ext cx="731520" cy="73152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18745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9264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Entrega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Contraste en papel</a:t>
            </a:r>
            <a:endParaRPr lang="en-US" sz="1600" dirty="0"/>
          </a:p>
        </p:txBody>
      </p:sp>
      <p:sp>
        <p:nvSpPr>
          <p:cNvPr id="19" name="dato SUTRAN"/>
          <p:cNvSpPr/>
          <p:nvPr/>
        </p:nvSpPr>
        <p:spPr>
          <a:xfrm>
            <a:off x="548640" y="3611880"/>
            <a:ext cx="3383280" cy="2377440"/>
          </a:xfrm>
          <a:prstGeom prst="roundRect">
            <a:avLst>
              <a:gd name="adj" fmla="val 5385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7724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96,4 M</a:t>
            </a:r>
            <a:endParaRPr lang="en-US" sz="54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7548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pasajeros movilizó el transporte terrestre interprovincial en 2024 (SUTRAN)</a:t>
            </a:r>
            <a:endParaRPr lang="en-US" sz="1400" dirty="0"/>
          </a:p>
        </p:txBody>
      </p:sp>
      <p:sp>
        <p:nvSpPr>
          <p:cNvPr id="22" name="consecuencia 1"/>
          <p:cNvSpPr/>
          <p:nvPr/>
        </p:nvSpPr>
        <p:spPr>
          <a:xfrm>
            <a:off x="4206240" y="3611880"/>
            <a:ext cx="2326538" cy="2377440"/>
          </a:xfrm>
          <a:prstGeom prst="roundRect">
            <a:avLst>
              <a:gd name="adj" fmla="val 5502"/>
            </a:avLst>
          </a:prstGeom>
          <a:solidFill>
            <a:schemeClr val="bg2"/>
          </a:solidFill>
          <a:ln/>
        </p:spPr>
      </p:sp>
      <p:sp>
        <p:nvSpPr>
          <p:cNvPr id="23" name="Shape 17"/>
          <p:cNvSpPr/>
          <p:nvPr/>
        </p:nvSpPr>
        <p:spPr>
          <a:xfrm>
            <a:off x="4434840" y="384048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3968496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434840" y="4526280"/>
            <a:ext cx="1869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Bodega a ciegas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personal no sabe qué unidades corresponden a cada destino en una escala.</a:t>
            </a:r>
            <a:endParaRPr lang="en-US" sz="1700" dirty="0"/>
          </a:p>
        </p:txBody>
      </p:sp>
      <p:sp>
        <p:nvSpPr>
          <p:cNvPr id="26" name="consecuencia 2"/>
          <p:cNvSpPr/>
          <p:nvPr/>
        </p:nvSpPr>
        <p:spPr>
          <a:xfrm>
            <a:off x="6761378" y="3611880"/>
            <a:ext cx="2326538" cy="2377440"/>
          </a:xfrm>
          <a:prstGeom prst="roundRect">
            <a:avLst>
              <a:gd name="adj" fmla="val 5502"/>
            </a:avLst>
          </a:prstGeom>
          <a:solidFill>
            <a:schemeClr val="bg2"/>
          </a:solidFill>
          <a:ln/>
        </p:spPr>
      </p:sp>
      <p:sp>
        <p:nvSpPr>
          <p:cNvPr id="27" name="Shape 20"/>
          <p:cNvSpPr/>
          <p:nvPr/>
        </p:nvSpPr>
        <p:spPr>
          <a:xfrm>
            <a:off x="6989978" y="384048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994" y="3968496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89978" y="4526280"/>
            <a:ext cx="1869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Pasajero sin datos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puede conocer el estado de su equipaje durante el viaje.</a:t>
            </a:r>
            <a:endParaRPr lang="en-US" sz="1700" dirty="0"/>
          </a:p>
        </p:txBody>
      </p:sp>
      <p:sp>
        <p:nvSpPr>
          <p:cNvPr id="30" name="consecuencia 3"/>
          <p:cNvSpPr/>
          <p:nvPr/>
        </p:nvSpPr>
        <p:spPr>
          <a:xfrm>
            <a:off x="9316517" y="3611880"/>
            <a:ext cx="2326538" cy="2377440"/>
          </a:xfrm>
          <a:prstGeom prst="roundRect">
            <a:avLst>
              <a:gd name="adj" fmla="val 5502"/>
            </a:avLst>
          </a:prstGeom>
          <a:solidFill>
            <a:schemeClr val="bg2"/>
          </a:solidFill>
          <a:ln/>
        </p:spPr>
      </p:sp>
      <p:sp>
        <p:nvSpPr>
          <p:cNvPr id="31" name="Shape 23"/>
          <p:cNvSpPr/>
          <p:nvPr/>
        </p:nvSpPr>
        <p:spPr>
          <a:xfrm>
            <a:off x="9545117" y="3840480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3133" y="3968496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545117" y="4526280"/>
            <a:ext cx="1869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Reclamos lentos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Indecopi responsabiliza a la empresa; sin registro digital todo se reconstruye a mano.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PROPUESTA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Una app para registrar y rastrear cada maleta</a:t>
            </a:r>
            <a:endParaRPr lang="en-US" sz="3400" dirty="0"/>
          </a:p>
        </p:txBody>
      </p:sp>
      <p:sp>
        <p:nvSpPr>
          <p:cNvPr id="4" name="icono Operario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832458"/>
            <a:ext cx="358445" cy="358445"/>
          </a:xfrm>
          <a:prstGeom prst="rect">
            <a:avLst/>
          </a:prstGeom>
        </p:spPr>
      </p:pic>
      <p:sp>
        <p:nvSpPr>
          <p:cNvPr id="6" name="texto Operario"/>
          <p:cNvSpPr txBox="1"/>
          <p:nvPr/>
        </p:nvSpPr>
        <p:spPr>
          <a:xfrm>
            <a:off x="1389888" y="1645920"/>
            <a:ext cx="5468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Operario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Inicia sesión con su código; registra, edita, elimina y revisa el manifiesto de bodega.</a:t>
            </a:r>
            <a:endParaRPr lang="en-US" sz="1700" dirty="0"/>
          </a:p>
        </p:txBody>
      </p:sp>
      <p:sp>
        <p:nvSpPr>
          <p:cNvPr id="7" name="icono Pasajero"/>
          <p:cNvSpPr/>
          <p:nvPr/>
        </p:nvSpPr>
        <p:spPr>
          <a:xfrm>
            <a:off x="548640" y="2807208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2948026"/>
            <a:ext cx="358445" cy="358445"/>
          </a:xfrm>
          <a:prstGeom prst="rect">
            <a:avLst/>
          </a:prstGeom>
        </p:spPr>
      </p:pic>
      <p:sp>
        <p:nvSpPr>
          <p:cNvPr id="9" name="texto Pasajero"/>
          <p:cNvSpPr txBox="1"/>
          <p:nvPr/>
        </p:nvSpPr>
        <p:spPr>
          <a:xfrm>
            <a:off x="1389888" y="2761488"/>
            <a:ext cx="5468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Pasajero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Consulta su equipaje sin crear cuenta, por nombre, boleto o código.</a:t>
            </a:r>
            <a:endParaRPr lang="en-US" sz="1700" dirty="0"/>
          </a:p>
        </p:txBody>
      </p:sp>
      <p:sp>
        <p:nvSpPr>
          <p:cNvPr id="10" name="icono Código de rastreo único"/>
          <p:cNvSpPr/>
          <p:nvPr/>
        </p:nvSpPr>
        <p:spPr>
          <a:xfrm>
            <a:off x="548640" y="3922776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4063594"/>
            <a:ext cx="358445" cy="358445"/>
          </a:xfrm>
          <a:prstGeom prst="rect">
            <a:avLst/>
          </a:prstGeom>
        </p:spPr>
      </p:pic>
      <p:sp>
        <p:nvSpPr>
          <p:cNvPr id="12" name="texto Código de rastreo único"/>
          <p:cNvSpPr txBox="1"/>
          <p:nvPr/>
        </p:nvSpPr>
        <p:spPr>
          <a:xfrm>
            <a:off x="1389888" y="3877056"/>
            <a:ext cx="5468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Código de rastreo único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unidad recibe un código CDS-XXX-XXXXXX al registrarse.</a:t>
            </a:r>
            <a:endParaRPr lang="en-US" sz="1700" dirty="0"/>
          </a:p>
        </p:txBody>
      </p:sp>
      <p:sp>
        <p:nvSpPr>
          <p:cNvPr id="13" name="icono Datos en la nube"/>
          <p:cNvSpPr/>
          <p:nvPr/>
        </p:nvSpPr>
        <p:spPr>
          <a:xfrm>
            <a:off x="548640" y="5038344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5179162"/>
            <a:ext cx="358445" cy="358445"/>
          </a:xfrm>
          <a:prstGeom prst="rect">
            <a:avLst/>
          </a:prstGeom>
        </p:spPr>
      </p:pic>
      <p:sp>
        <p:nvSpPr>
          <p:cNvPr id="15" name="texto Datos en la nube"/>
          <p:cNvSpPr txBox="1"/>
          <p:nvPr/>
        </p:nvSpPr>
        <p:spPr>
          <a:xfrm>
            <a:off x="1389888" y="4992624"/>
            <a:ext cx="5468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Datos en la nube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 Gateway, Lambda y DynamoDB en AWS, sin servidores propios.</a:t>
            </a:r>
            <a:endParaRPr lang="en-US" sz="1700" dirty="0"/>
          </a:p>
        </p:txBody>
      </p:sp>
      <p:pic>
        <p:nvPicPr>
          <p:cNvPr id="16" name="captura login" descr="Captura de la app Cruz del Su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417320"/>
            <a:ext cx="2204623" cy="4800600"/>
          </a:xfrm>
          <a:prstGeom prst="rect">
            <a:avLst/>
          </a:prstGeom>
        </p:spPr>
      </p:pic>
      <p:pic>
        <p:nvPicPr>
          <p:cNvPr id="17" name="captura consulta" descr="Captura de la app Cruz del Su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417320"/>
            <a:ext cx="2204623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ALCANCE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Alcance funcional del entregable final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 final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3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6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equipaje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Operario de counter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6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de equipaje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Operario / Pasajero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6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Manifiesto de bodega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Operario de bodega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ruta (QR)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Operario de bodega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Prototipo (trabajo futuro)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de incidencias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Prototipo (trabajo futuro)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Parcial: lista agrupada por destino con totales; falta la lógica de descarga por escala.</a:t>
            </a:r>
            <a:endParaRPr lang="en-US" sz="1200" dirty="0"/>
          </a:p>
        </p:txBody>
      </p:sp>
      <p:sp>
        <p:nvSpPr>
          <p:cNvPr id="6" name="indicador módulos implementados"/>
          <p:cNvSpPr/>
          <p:nvPr/>
        </p:nvSpPr>
        <p:spPr>
          <a:xfrm>
            <a:off x="8823960" y="1600200"/>
            <a:ext cx="2788920" cy="118872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006840" y="16002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829800" y="16002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módulos implementados</a:t>
            </a:r>
            <a:endParaRPr lang="en-US" sz="1500" dirty="0"/>
          </a:p>
        </p:txBody>
      </p:sp>
      <p:sp>
        <p:nvSpPr>
          <p:cNvPr id="9" name="indicador módulo parcial"/>
          <p:cNvSpPr/>
          <p:nvPr/>
        </p:nvSpPr>
        <p:spPr>
          <a:xfrm>
            <a:off x="8823960" y="2971800"/>
            <a:ext cx="2788920" cy="1188720"/>
          </a:xfrm>
          <a:prstGeom prst="roundRect">
            <a:avLst>
              <a:gd name="adj" fmla="val 9231"/>
            </a:avLst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006840" y="2971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9829800" y="29718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módulo parcial</a:t>
            </a:r>
            <a:endParaRPr lang="en-US" sz="1500" dirty="0"/>
          </a:p>
        </p:txBody>
      </p:sp>
      <p:sp>
        <p:nvSpPr>
          <p:cNvPr id="12" name="indicador en prototipo"/>
          <p:cNvSpPr/>
          <p:nvPr/>
        </p:nvSpPr>
        <p:spPr>
          <a:xfrm>
            <a:off x="8823960" y="4343400"/>
            <a:ext cx="2788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006840" y="43434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9829800" y="4343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 prototipo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HISTORIAS DE USUARIO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Historias de usuario implementadas</a:t>
            </a:r>
            <a:endParaRPr lang="en-US" sz="3400" dirty="0"/>
          </a:p>
        </p:txBody>
      </p:sp>
      <p:sp>
        <p:nvSpPr>
          <p:cNvPr id="4" name="tarjeta HU01"/>
          <p:cNvSpPr/>
          <p:nvPr/>
        </p:nvSpPr>
        <p:spPr>
          <a:xfrm>
            <a:off x="548640" y="1600200"/>
            <a:ext cx="39319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27000" dist="38100" dir="5400000">
              <a:srgbClr val="0E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1828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DF6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7180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Implementada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Como operario, quiero iniciar sesión con mi código y contraseña para acceder a las funciones de mi rol.</a:t>
            </a:r>
            <a:endParaRPr lang="en-US" sz="1500" dirty="0"/>
          </a:p>
        </p:txBody>
      </p:sp>
      <p:sp>
        <p:nvSpPr>
          <p:cNvPr id="10" name="tarjeta HU03"/>
          <p:cNvSpPr/>
          <p:nvPr/>
        </p:nvSpPr>
        <p:spPr>
          <a:xfrm>
            <a:off x="4709160" y="1600200"/>
            <a:ext cx="39319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27000" dist="38100" dir="5400000">
              <a:srgbClr val="0E23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82880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18288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DF6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Implementada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377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Como operario de counter, quiero registrar una unidad vinculada al boleto y generar su código único.</a:t>
            </a:r>
            <a:endParaRPr lang="en-US" sz="1500" dirty="0"/>
          </a:p>
        </p:txBody>
      </p:sp>
      <p:sp>
        <p:nvSpPr>
          <p:cNvPr id="16" name="tarjeta HU07"/>
          <p:cNvSpPr/>
          <p:nvPr/>
        </p:nvSpPr>
        <p:spPr>
          <a:xfrm>
            <a:off x="548640" y="3931920"/>
            <a:ext cx="39319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27000" dist="38100" dir="5400000">
              <a:srgbClr val="0E234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6052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HU07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71800" y="41605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DF6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718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Implementada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091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Como operario, quiero buscar un equipaje por boleto, nombre o código para atender una consulta.</a:t>
            </a:r>
            <a:endParaRPr lang="en-US" sz="1500" dirty="0"/>
          </a:p>
        </p:txBody>
      </p:sp>
      <p:sp>
        <p:nvSpPr>
          <p:cNvPr id="22" name="tarjeta HU09"/>
          <p:cNvSpPr/>
          <p:nvPr/>
        </p:nvSpPr>
        <p:spPr>
          <a:xfrm>
            <a:off x="4709160" y="3931920"/>
            <a:ext cx="39319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27000" dist="38100" dir="5400000">
              <a:srgbClr val="0E234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416052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4160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HU09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32320" y="41605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DF6E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Implementada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47091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Como operario, quiero ver el detalle de una unidad para corregir sus datos o darla de baja.</a:t>
            </a:r>
            <a:endParaRPr lang="en-US" sz="1500" dirty="0"/>
          </a:p>
        </p:txBody>
      </p:sp>
      <p:sp>
        <p:nvSpPr>
          <p:cNvPr id="28" name="resumen historias"/>
          <p:cNvSpPr/>
          <p:nvPr/>
        </p:nvSpPr>
        <p:spPr>
          <a:xfrm>
            <a:off x="8961120" y="1600200"/>
            <a:ext cx="2651760" cy="4434840"/>
          </a:xfrm>
          <a:prstGeom prst="roundRect">
            <a:avLst>
              <a:gd name="adj" fmla="val 4828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8972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10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historias de usuario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DF6E6"/>
                </a:solidFill>
              </a:rPr>
              <a:t>5 implementadas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HU01, HU03, HU07, HU09, HU10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CD9A8"/>
                </a:solidFill>
              </a:rPr>
              <a:t>2 parciales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HU02, HU05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937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E5F2"/>
                </a:solidFill>
              </a:rPr>
              <a:t>3 en prototipo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HU04, HU06, HU08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SOLUCIÓN TÉCNICA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Arquitectura del sistema</a:t>
            </a:r>
            <a:endParaRPr lang="en-US" sz="3400" dirty="0"/>
          </a:p>
        </p:txBody>
      </p:sp>
      <p:pic>
        <p:nvPicPr>
          <p:cNvPr id="4" name="diagrama de arquitectura" descr="Diagrama de arquitectura del sis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906" y="1417320"/>
            <a:ext cx="9311882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SOLUCIÓN TÉCNICA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Modelo de datos en DynamoDB</a:t>
            </a:r>
            <a:endParaRPr lang="en-US" sz="3400" dirty="0"/>
          </a:p>
        </p:txBody>
      </p:sp>
      <p:pic>
        <p:nvPicPr>
          <p:cNvPr id="4" name="diagrama de modelo de datos" descr="Modelo de datos en Dynamo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41836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 · 1 DE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Inicio de sesión y perfiles</a:t>
            </a:r>
            <a:endParaRPr lang="en-US" sz="3400" dirty="0"/>
          </a:p>
        </p:txBody>
      </p:sp>
      <p:pic>
        <p:nvPicPr>
          <p:cNvPr id="4" name="captura login" descr="Captura de la app Cruz del S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225620" cy="4846320"/>
          </a:xfrm>
          <a:prstGeom prst="rect">
            <a:avLst/>
          </a:prstGeom>
        </p:spPr>
      </p:pic>
      <p:sp>
        <p:nvSpPr>
          <p:cNvPr id="5" name="icono Operario con código de colaborador"/>
          <p:cNvSpPr/>
          <p:nvPr/>
        </p:nvSpPr>
        <p:spPr>
          <a:xfrm>
            <a:off x="3931920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738" y="1786738"/>
            <a:ext cx="358445" cy="358445"/>
          </a:xfrm>
          <a:prstGeom prst="rect">
            <a:avLst/>
          </a:prstGeom>
        </p:spPr>
      </p:pic>
      <p:sp>
        <p:nvSpPr>
          <p:cNvPr id="7" name="texto Operario con código de colaborador"/>
          <p:cNvSpPr txBox="1"/>
          <p:nvPr/>
        </p:nvSpPr>
        <p:spPr>
          <a:xfrm>
            <a:off x="4773168" y="160020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Operario con código de colaborador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Ingresa con su código (p. ej. OP-4821); funAuth valida la contraseña y entrega un token de 12 horas.</a:t>
            </a:r>
            <a:endParaRPr lang="en-US" sz="1700" dirty="0"/>
          </a:p>
        </p:txBody>
      </p:sp>
      <p:sp>
        <p:nvSpPr>
          <p:cNvPr id="8" name="icono Pasajero sin cuenta"/>
          <p:cNvSpPr/>
          <p:nvPr/>
        </p:nvSpPr>
        <p:spPr>
          <a:xfrm>
            <a:off x="3931920" y="28346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738" y="2975458"/>
            <a:ext cx="358445" cy="358445"/>
          </a:xfrm>
          <a:prstGeom prst="rect">
            <a:avLst/>
          </a:prstGeom>
        </p:spPr>
      </p:pic>
      <p:sp>
        <p:nvSpPr>
          <p:cNvPr id="10" name="texto Pasajero sin cuenta"/>
          <p:cNvSpPr txBox="1"/>
          <p:nvPr/>
        </p:nvSpPr>
        <p:spPr>
          <a:xfrm>
            <a:off x="4773168" y="278892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Pasajero sin cuenta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«Consultar mi equipaje» abre la consulta pública sin iniciar sesión.</a:t>
            </a:r>
            <a:endParaRPr lang="en-US" sz="1700" dirty="0"/>
          </a:p>
        </p:txBody>
      </p:sp>
      <p:sp>
        <p:nvSpPr>
          <p:cNvPr id="11" name="icono ¿Olvidaste tu contraseña?"/>
          <p:cNvSpPr/>
          <p:nvPr/>
        </p:nvSpPr>
        <p:spPr>
          <a:xfrm>
            <a:off x="3931920" y="4023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738" y="4164178"/>
            <a:ext cx="358445" cy="358445"/>
          </a:xfrm>
          <a:prstGeom prst="rect">
            <a:avLst/>
          </a:prstGeom>
        </p:spPr>
      </p:pic>
      <p:sp>
        <p:nvSpPr>
          <p:cNvPr id="13" name="texto ¿Olvidaste tu contraseña?"/>
          <p:cNvSpPr txBox="1"/>
          <p:nvPr/>
        </p:nvSpPr>
        <p:spPr>
          <a:xfrm>
            <a:off x="4773168" y="397764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¿Olvidaste tu contraseña?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Indica solicitar el restablecimiento al supervisor del terminal.</a:t>
            </a:r>
            <a:endParaRPr lang="en-US" sz="1700" dirty="0"/>
          </a:p>
        </p:txBody>
      </p:sp>
      <p:sp>
        <p:nvSpPr>
          <p:cNvPr id="14" name="icono Cierre de sesión"/>
          <p:cNvSpPr/>
          <p:nvPr/>
        </p:nvSpPr>
        <p:spPr>
          <a:xfrm>
            <a:off x="3931920" y="5212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738" y="5352898"/>
            <a:ext cx="358445" cy="358445"/>
          </a:xfrm>
          <a:prstGeom prst="rect">
            <a:avLst/>
          </a:prstGeom>
        </p:spPr>
      </p:pic>
      <p:sp>
        <p:nvSpPr>
          <p:cNvPr id="16" name="texto Cierre de sesión"/>
          <p:cNvSpPr txBox="1"/>
          <p:nvPr/>
        </p:nvSpPr>
        <p:spPr>
          <a:xfrm>
            <a:off x="4773168" y="516636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Cierre de sesión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Desde el menú del avatar: vuelve al login y limpia la navegación.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 · 2 DE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Manifiesto de bodega</a:t>
            </a:r>
            <a:endParaRPr lang="en-US" sz="3400" dirty="0"/>
          </a:p>
        </p:txBody>
      </p:sp>
      <p:sp>
        <p:nvSpPr>
          <p:cNvPr id="4" name="icono Unidades agrupadas por destino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786738"/>
            <a:ext cx="358445" cy="358445"/>
          </a:xfrm>
          <a:prstGeom prst="rect">
            <a:avLst/>
          </a:prstGeom>
        </p:spPr>
      </p:pic>
      <p:sp>
        <p:nvSpPr>
          <p:cNvPr id="6" name="texto Unidades agrupadas por destino"/>
          <p:cNvSpPr txBox="1"/>
          <p:nvPr/>
        </p:nvSpPr>
        <p:spPr>
          <a:xfrm>
            <a:off x="1389888" y="1600200"/>
            <a:ext cx="6473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Unidades agrupadas por destino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tarjeta muestra código CDS, pasajero, boleto, peso y estado.</a:t>
            </a:r>
            <a:endParaRPr lang="en-US" sz="1700" dirty="0"/>
          </a:p>
        </p:txBody>
      </p:sp>
      <p:sp>
        <p:nvSpPr>
          <p:cNvPr id="7" name="icono Totales en tiempo real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2975458"/>
            <a:ext cx="358445" cy="358445"/>
          </a:xfrm>
          <a:prstGeom prst="rect">
            <a:avLst/>
          </a:prstGeom>
        </p:spPr>
      </p:pic>
      <p:sp>
        <p:nvSpPr>
          <p:cNvPr id="9" name="texto Totales en tiempo real"/>
          <p:cNvSpPr txBox="1"/>
          <p:nvPr/>
        </p:nvSpPr>
        <p:spPr>
          <a:xfrm>
            <a:off x="1389888" y="2788920"/>
            <a:ext cx="6473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Totales en tiempo real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Bultos, kilos en bodega y destinos se calculan con los datos de GET /equipajes.</a:t>
            </a:r>
            <a:endParaRPr lang="en-US" sz="1700" dirty="0"/>
          </a:p>
        </p:txBody>
      </p:sp>
      <p:sp>
        <p:nvSpPr>
          <p:cNvPr id="10" name="icono Alerta de franquicia"/>
          <p:cNvSpPr/>
          <p:nvPr/>
        </p:nvSpPr>
        <p:spPr>
          <a:xfrm>
            <a:off x="548640" y="4023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4164178"/>
            <a:ext cx="358445" cy="358445"/>
          </a:xfrm>
          <a:prstGeom prst="rect">
            <a:avLst/>
          </a:prstGeom>
        </p:spPr>
      </p:pic>
      <p:sp>
        <p:nvSpPr>
          <p:cNvPr id="12" name="texto Alerta de franquicia"/>
          <p:cNvSpPr txBox="1"/>
          <p:nvPr/>
        </p:nvSpPr>
        <p:spPr>
          <a:xfrm>
            <a:off x="1389888" y="3977640"/>
            <a:ext cx="6473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Alerta de franquicia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Las unidades que superan 20 kg se marcan en la tarjeta.</a:t>
            </a:r>
            <a:endParaRPr lang="en-US" sz="1700" dirty="0"/>
          </a:p>
        </p:txBody>
      </p:sp>
      <p:sp>
        <p:nvSpPr>
          <p:cNvPr id="13" name="icono Datos reales de AWS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5352898"/>
            <a:ext cx="358445" cy="358445"/>
          </a:xfrm>
          <a:prstGeom prst="rect">
            <a:avLst/>
          </a:prstGeom>
        </p:spPr>
      </p:pic>
      <p:sp>
        <p:nvSpPr>
          <p:cNvPr id="15" name="texto Datos reales de AWS"/>
          <p:cNvSpPr txBox="1"/>
          <p:nvPr/>
        </p:nvSpPr>
        <p:spPr>
          <a:xfrm>
            <a:off x="1389888" y="5166360"/>
            <a:ext cx="6473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Datos reales de AWS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 carga al abrir la pantalla desde apiEquipajes y DynamoDB.</a:t>
            </a:r>
            <a:endParaRPr lang="en-US" sz="1700" dirty="0"/>
          </a:p>
        </p:txBody>
      </p:sp>
      <p:pic>
        <p:nvPicPr>
          <p:cNvPr id="16" name="captura manifiesto" descr="Captura de la app Cruz del Su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371600"/>
            <a:ext cx="222562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 · 3 DE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Registro de equipaje</a:t>
            </a:r>
            <a:endParaRPr lang="en-US" sz="3400" dirty="0"/>
          </a:p>
        </p:txBody>
      </p:sp>
      <p:pic>
        <p:nvPicPr>
          <p:cNvPr id="4" name="captura registro" descr="Captura de la app Cruz del S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225620" cy="4846320"/>
          </a:xfrm>
          <a:prstGeom prst="rect">
            <a:avLst/>
          </a:prstGeom>
        </p:spPr>
      </p:pic>
      <p:sp>
        <p:nvSpPr>
          <p:cNvPr id="5" name="icono Vinculado al boleto"/>
          <p:cNvSpPr/>
          <p:nvPr/>
        </p:nvSpPr>
        <p:spPr>
          <a:xfrm>
            <a:off x="3931920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738" y="1786738"/>
            <a:ext cx="358445" cy="358445"/>
          </a:xfrm>
          <a:prstGeom prst="rect">
            <a:avLst/>
          </a:prstGeom>
        </p:spPr>
      </p:pic>
      <p:sp>
        <p:nvSpPr>
          <p:cNvPr id="7" name="texto Vinculado al boleto"/>
          <p:cNvSpPr txBox="1"/>
          <p:nvPr/>
        </p:nvSpPr>
        <p:spPr>
          <a:xfrm>
            <a:off x="4773168" y="160020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Vinculado al boleto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Boleto, pasajero titular, destino, peso y observaciones son obligatorios.</a:t>
            </a:r>
            <a:endParaRPr lang="en-US" sz="1700" dirty="0"/>
          </a:p>
        </p:txBody>
      </p:sp>
      <p:sp>
        <p:nvSpPr>
          <p:cNvPr id="8" name="icono Destinos desde la API"/>
          <p:cNvSpPr/>
          <p:nvPr/>
        </p:nvSpPr>
        <p:spPr>
          <a:xfrm>
            <a:off x="3931920" y="28346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738" y="2975458"/>
            <a:ext cx="358445" cy="358445"/>
          </a:xfrm>
          <a:prstGeom prst="rect">
            <a:avLst/>
          </a:prstGeom>
        </p:spPr>
      </p:pic>
      <p:sp>
        <p:nvSpPr>
          <p:cNvPr id="10" name="texto Destinos desde la API"/>
          <p:cNvSpPr txBox="1"/>
          <p:nvPr/>
        </p:nvSpPr>
        <p:spPr>
          <a:xfrm>
            <a:off x="4773168" y="278892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Destinos desde la API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Los chips de destino se cargan con GET /destinos.</a:t>
            </a:r>
            <a:endParaRPr lang="en-US" sz="1700" dirty="0"/>
          </a:p>
        </p:txBody>
      </p:sp>
      <p:sp>
        <p:nvSpPr>
          <p:cNvPr id="11" name="icono Control de franquicia"/>
          <p:cNvSpPr/>
          <p:nvPr/>
        </p:nvSpPr>
        <p:spPr>
          <a:xfrm>
            <a:off x="3931920" y="40233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738" y="4164178"/>
            <a:ext cx="358445" cy="358445"/>
          </a:xfrm>
          <a:prstGeom prst="rect">
            <a:avLst/>
          </a:prstGeom>
        </p:spPr>
      </p:pic>
      <p:sp>
        <p:nvSpPr>
          <p:cNvPr id="13" name="texto Control de franquicia"/>
          <p:cNvSpPr txBox="1"/>
          <p:nvPr/>
        </p:nvSpPr>
        <p:spPr>
          <a:xfrm>
            <a:off x="4773168" y="397764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Control de franquicia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Botones − / + y barra de peso con límite de 20 kg.</a:t>
            </a:r>
            <a:endParaRPr lang="en-US" sz="1700" dirty="0"/>
          </a:p>
        </p:txBody>
      </p:sp>
      <p:sp>
        <p:nvSpPr>
          <p:cNvPr id="14" name="icono Código al guardar"/>
          <p:cNvSpPr/>
          <p:nvPr/>
        </p:nvSpPr>
        <p:spPr>
          <a:xfrm>
            <a:off x="3931920" y="5212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738" y="5352898"/>
            <a:ext cx="358445" cy="358445"/>
          </a:xfrm>
          <a:prstGeom prst="rect">
            <a:avLst/>
          </a:prstGeom>
        </p:spPr>
      </p:pic>
      <p:sp>
        <p:nvSpPr>
          <p:cNvPr id="16" name="texto Código al guardar"/>
          <p:cNvSpPr txBox="1"/>
          <p:nvPr/>
        </p:nvSpPr>
        <p:spPr>
          <a:xfrm>
            <a:off x="4773168" y="5166360"/>
            <a:ext cx="6839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Código al guardar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 /equipajes: funEquipajes genera el id y el código CDS-XXX-XXXXXX.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DEMO · 4 DE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Detalle y consulta del pasajero</a:t>
            </a:r>
            <a:endParaRPr lang="en-US" sz="3400" dirty="0"/>
          </a:p>
        </p:txBody>
      </p:sp>
      <p:pic>
        <p:nvPicPr>
          <p:cNvPr id="4" name="captura Detalle de la unidad" descr="Captura de la app Cruz del S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910674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623560"/>
            <a:ext cx="2276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Detalle de la unidad</a:t>
            </a:r>
            <a:endParaRPr lang="en-US" sz="1200" dirty="0"/>
          </a:p>
        </p:txBody>
      </p:sp>
      <p:pic>
        <p:nvPicPr>
          <p:cNvPr id="6" name="captura Consulta pública" descr="Captura de la app Cruz del S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371600"/>
            <a:ext cx="1910674" cy="4160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834640" y="5623560"/>
            <a:ext cx="2276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Consulta pública</a:t>
            </a:r>
            <a:endParaRPr lang="en-US" sz="1200" dirty="0"/>
          </a:p>
        </p:txBody>
      </p:sp>
      <p:pic>
        <p:nvPicPr>
          <p:cNvPr id="8" name="captura Resultado en tiempo real" descr="Captura de la app Cruz del Su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71600"/>
            <a:ext cx="1910674" cy="4160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212080" y="5623560"/>
            <a:ext cx="22764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Resultado en tiempo real</a:t>
            </a:r>
            <a:endParaRPr lang="en-US" sz="1200" dirty="0"/>
          </a:p>
        </p:txBody>
      </p:sp>
      <p:sp>
        <p:nvSpPr>
          <p:cNvPr id="10" name="icono Línea de custodia"/>
          <p:cNvSpPr/>
          <p:nvPr/>
        </p:nvSpPr>
        <p:spPr>
          <a:xfrm>
            <a:off x="7863840" y="160020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564" y="1724924"/>
            <a:ext cx="317480" cy="317480"/>
          </a:xfrm>
          <a:prstGeom prst="rect">
            <a:avLst/>
          </a:prstGeom>
        </p:spPr>
      </p:pic>
      <p:sp>
        <p:nvSpPr>
          <p:cNvPr id="12" name="texto Línea de custodia"/>
          <p:cNvSpPr txBox="1"/>
          <p:nvPr/>
        </p:nvSpPr>
        <p:spPr>
          <a:xfrm>
            <a:off x="8631936" y="155448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Línea de custodia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Registro → Bodega → Entrega, código copiable; editar y eliminar con confirmación.</a:t>
            </a:r>
            <a:endParaRPr lang="en-US" sz="1700" dirty="0"/>
          </a:p>
        </p:txBody>
      </p:sp>
      <p:sp>
        <p:nvSpPr>
          <p:cNvPr id="13" name="icono Búsqueda flexible"/>
          <p:cNvSpPr/>
          <p:nvPr/>
        </p:nvSpPr>
        <p:spPr>
          <a:xfrm>
            <a:off x="7863840" y="292608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8564" y="3050804"/>
            <a:ext cx="317480" cy="317480"/>
          </a:xfrm>
          <a:prstGeom prst="rect">
            <a:avLst/>
          </a:prstGeom>
        </p:spPr>
      </p:pic>
      <p:sp>
        <p:nvSpPr>
          <p:cNvPr id="15" name="texto Búsqueda flexible"/>
          <p:cNvSpPr txBox="1"/>
          <p:nvPr/>
        </p:nvSpPr>
        <p:spPr>
          <a:xfrm>
            <a:off x="8631936" y="288036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Búsqueda flexible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 nombre, boleto o código CDS; ignora tildes y mayúsculas.</a:t>
            </a:r>
            <a:endParaRPr lang="en-US" sz="1700" dirty="0"/>
          </a:p>
        </p:txBody>
      </p:sp>
      <p:sp>
        <p:nvSpPr>
          <p:cNvPr id="16" name="icono Filtra mientras escribes"/>
          <p:cNvSpPr/>
          <p:nvPr/>
        </p:nvSpPr>
        <p:spPr>
          <a:xfrm>
            <a:off x="7863840" y="4251960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8564" y="4376684"/>
            <a:ext cx="317480" cy="317480"/>
          </a:xfrm>
          <a:prstGeom prst="rect">
            <a:avLst/>
          </a:prstGeom>
        </p:spPr>
      </p:pic>
      <p:sp>
        <p:nvSpPr>
          <p:cNvPr id="18" name="texto Filtra mientras escribes"/>
          <p:cNvSpPr txBox="1"/>
          <p:nvPr/>
        </p:nvSpPr>
        <p:spPr>
          <a:xfrm>
            <a:off x="8631936" y="420624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Filtra mientras escribes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lista se actualiza al instante con los datos de AWS.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PRUEBAS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Validación contra el backend real</a:t>
            </a:r>
            <a:endParaRPr lang="en-US" sz="3400" dirty="0"/>
          </a:p>
        </p:txBody>
      </p:sp>
      <p:sp>
        <p:nvSpPr>
          <p:cNvPr id="4" name="indicador tablas DynamoDB"/>
          <p:cNvSpPr/>
          <p:nvPr/>
        </p:nvSpPr>
        <p:spPr>
          <a:xfrm>
            <a:off x="548640" y="1600200"/>
            <a:ext cx="2212848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tablas DynamoDB</a:t>
            </a:r>
            <a:endParaRPr lang="en-US" sz="1500" dirty="0"/>
          </a:p>
        </p:txBody>
      </p:sp>
      <p:sp>
        <p:nvSpPr>
          <p:cNvPr id="7" name="indicador funciones Lambda"/>
          <p:cNvSpPr/>
          <p:nvPr/>
        </p:nvSpPr>
        <p:spPr>
          <a:xfrm>
            <a:off x="2944368" y="1600200"/>
            <a:ext cx="2212848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72968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172968" y="2743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funciones Lambda</a:t>
            </a:r>
            <a:endParaRPr lang="en-US" sz="1500" dirty="0"/>
          </a:p>
        </p:txBody>
      </p:sp>
      <p:sp>
        <p:nvSpPr>
          <p:cNvPr id="10" name="indicador APIs HTTP"/>
          <p:cNvSpPr/>
          <p:nvPr/>
        </p:nvSpPr>
        <p:spPr>
          <a:xfrm>
            <a:off x="5340096" y="1600200"/>
            <a:ext cx="2212848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68696" y="1783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5568696" y="27432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APIs HTTP</a:t>
            </a:r>
            <a:endParaRPr lang="en-US" sz="1500" dirty="0"/>
          </a:p>
        </p:txBody>
      </p:sp>
      <p:sp>
        <p:nvSpPr>
          <p:cNvPr id="13" name="indicador operaciones probadas de extremo a extremo"/>
          <p:cNvSpPr/>
          <p:nvPr/>
        </p:nvSpPr>
        <p:spPr>
          <a:xfrm>
            <a:off x="548640" y="3840480"/>
            <a:ext cx="2212848" cy="2057400"/>
          </a:xfrm>
          <a:prstGeom prst="roundRect">
            <a:avLst>
              <a:gd name="adj" fmla="val 6222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023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8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983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operaciones probadas de extremo a extremo</a:t>
            </a:r>
            <a:endParaRPr lang="en-US" sz="1500" dirty="0"/>
          </a:p>
        </p:txBody>
      </p:sp>
      <p:sp>
        <p:nvSpPr>
          <p:cNvPr id="16" name="indicador fallas en pruebas unitarias"/>
          <p:cNvSpPr/>
          <p:nvPr/>
        </p:nvSpPr>
        <p:spPr>
          <a:xfrm>
            <a:off x="2944368" y="3840480"/>
            <a:ext cx="2212848" cy="2057400"/>
          </a:xfrm>
          <a:prstGeom prst="roundRect">
            <a:avLst>
              <a:gd name="adj" fmla="val 6222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72968" y="4023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0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3172968" y="4983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fallas en pruebas unitarias</a:t>
            </a:r>
            <a:endParaRPr lang="en-US" sz="1500" dirty="0"/>
          </a:p>
        </p:txBody>
      </p:sp>
      <p:sp>
        <p:nvSpPr>
          <p:cNvPr id="19" name="indicador errores de lint"/>
          <p:cNvSpPr/>
          <p:nvPr/>
        </p:nvSpPr>
        <p:spPr>
          <a:xfrm>
            <a:off x="5340096" y="3840480"/>
            <a:ext cx="2212848" cy="2057400"/>
          </a:xfrm>
          <a:prstGeom prst="roundRect">
            <a:avLst>
              <a:gd name="adj" fmla="val 6222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68696" y="4023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0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5568696" y="4983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errores de lint</a:t>
            </a:r>
            <a:endParaRPr lang="en-US" sz="1500" dirty="0"/>
          </a:p>
        </p:txBody>
      </p:sp>
      <p:sp>
        <p:nvSpPr>
          <p:cNvPr id="22" name="casos ejecutados"/>
          <p:cNvSpPr/>
          <p:nvPr/>
        </p:nvSpPr>
        <p:spPr>
          <a:xfrm>
            <a:off x="7909560" y="1600200"/>
            <a:ext cx="3703320" cy="4297680"/>
          </a:xfrm>
          <a:prstGeom prst="roundRect">
            <a:avLst>
              <a:gd name="adj" fmla="val 3457"/>
            </a:avLst>
          </a:prstGeom>
          <a:solidFill>
            <a:schemeClr val="bg1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127000" dist="38100" dir="5400000">
              <a:srgbClr val="0E234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18388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Casos ejecutados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331720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549640" y="2286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válido (OP-4821)</a:t>
            </a:r>
            <a:endParaRPr lang="en-US" sz="14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761488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549640" y="2715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inválido → mensaje</a:t>
            </a:r>
            <a:endParaRPr lang="en-US" sz="14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191256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549640" y="3145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Cargar manifiesto</a:t>
            </a:r>
            <a:endParaRPr lang="en-US" sz="14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621024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549640" y="3575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 detalle</a:t>
            </a:r>
            <a:endParaRPr lang="en-US" sz="14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05079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549640" y="4005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Editar peso (15 → 16 kg)</a:t>
            </a:r>
            <a:endParaRPr lang="en-US" sz="14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4480560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549640" y="4434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Registrar equipaje</a:t>
            </a:r>
            <a:endParaRPr lang="en-US" sz="14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4910328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549640" y="4864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Consulta sin sesión</a:t>
            </a:r>
            <a:endParaRPr lang="en-US" sz="14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5340096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549640" y="52943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Eliminar equipaje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CIERRE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Conclusiones y trabajo futuro</a:t>
            </a:r>
            <a:endParaRPr lang="en-US" sz="3400" dirty="0"/>
          </a:p>
        </p:txBody>
      </p:sp>
      <p:sp>
        <p:nvSpPr>
          <p:cNvPr id="4" name="conclusiones"/>
          <p:cNvSpPr/>
          <p:nvPr/>
        </p:nvSpPr>
        <p:spPr>
          <a:xfrm>
            <a:off x="548640" y="1600200"/>
            <a:ext cx="5440680" cy="4343400"/>
          </a:xfrm>
          <a:prstGeom prst="roundRect">
            <a:avLst>
              <a:gd name="adj" fmla="val 2947"/>
            </a:avLst>
          </a:prstGeom>
          <a:solidFill>
            <a:schemeClr val="bg2"/>
          </a:solidFill>
          <a:ln/>
        </p:spPr>
      </p:sp>
      <p:sp>
        <p:nvSpPr>
          <p:cNvPr id="5" name="trabajo futuro"/>
          <p:cNvSpPr/>
          <p:nvPr/>
        </p:nvSpPr>
        <p:spPr>
          <a:xfrm>
            <a:off x="6199632" y="1600200"/>
            <a:ext cx="544068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Trabajo futuro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32304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239572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 funcional: registra, lista, busca, edita y elimina equipaje en la nube.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43230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85432" y="239572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Lectura de código QR en carga, escala y entrega.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7355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23697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arquitectura del curso se reutilizó cambiando solo la entidad del negocio.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27355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85432" y="323697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Manifiesto por escala y registro de incidencias.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1480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0782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Gateway, Lambda y DynamoDB ofrecen servicios REST sin administrar servidores.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11480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885432" y="407822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Recuperación de contraseña con backend.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956048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234440" y="491947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Los errores de red se informan con mensajes, sin cerrar la app.</a:t>
            </a:r>
            <a:endParaRPr lang="en-US" sz="15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956048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885432" y="491947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Migrar la autenticación propia (funAuth) a Amazon Cognito.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trella de fondo" descr="Isotipo de Cruz del Sur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863840" y="-1280160"/>
            <a:ext cx="5669280" cy="5669280"/>
          </a:xfrm>
          <a:prstGeom prst="rect">
            <a:avLst/>
          </a:prstGeom>
        </p:spPr>
      </p:pic>
      <p:pic>
        <p:nvPicPr>
          <p:cNvPr id="3" name="isotipo" descr="Isotipo de Cruz del S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8368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25880" y="713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bg1"/>
                </a:solidFill>
              </a:rPr>
              <a:t>CRUZ DEL SUR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828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Gracias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0175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¿Preguntas?</a:t>
            </a:r>
            <a:endParaRPr lang="en-US" sz="2400" dirty="0"/>
          </a:p>
        </p:txBody>
      </p:sp>
      <p:sp>
        <p:nvSpPr>
          <p:cNvPr id="7" name="repositorio"/>
          <p:cNvSpPr/>
          <p:nvPr/>
        </p:nvSpPr>
        <p:spPr>
          <a:xfrm>
            <a:off x="640080" y="4069080"/>
            <a:ext cx="5120640" cy="685800"/>
          </a:xfrm>
          <a:prstGeom prst="roundRect">
            <a:avLst>
              <a:gd name="adj" fmla="val 49333"/>
            </a:avLst>
          </a:prstGeom>
          <a:solidFill>
            <a:schemeClr val="accent2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06240"/>
            <a:ext cx="411480" cy="411480"/>
          </a:xfrm>
          <a:prstGeom prst="rect">
            <a:avLst/>
          </a:prstGeom>
        </p:spPr>
      </p:pic>
      <p:sp>
        <p:nvSpPr>
          <p:cNvPr id="9" name="Text 4">
            <a:hlinkClick r:id="rId4" tooltip=""/>
          </p:cNvPr>
          <p:cNvSpPr txBox="1"/>
          <p:nvPr/>
        </p:nvSpPr>
        <p:spPr>
          <a:xfrm>
            <a:off x="1417320" y="4069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github.com/redneurocom/cruzdelsurapp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5120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Salinas Cari, Jose Alcibiades  ·  Yllisca Chipana, Mario Renato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Puma Jiménez, Josué Benjamín</a:t>
            </a:r>
            <a:endParaRPr lang="en-US" sz="1400" dirty="0"/>
          </a:p>
        </p:txBody>
      </p:sp>
      <p:pic>
        <p:nvPicPr>
          <p:cNvPr id="11" name="ilustración bus" descr="Ilustración de bus interprovinci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01168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uz del Sur">
  <a:themeElements>
    <a:clrScheme name="Cruz del Sur">
      <a:dk1>
        <a:srgbClr val="0F172A"/>
      </a:dk1>
      <a:lt1>
        <a:srgbClr val="FFFFFF"/>
      </a:lt1>
      <a:dk2>
        <a:srgbClr val="0E2340"/>
      </a:dk2>
      <a:lt2>
        <a:srgbClr val="F4F6FA"/>
      </a:lt2>
      <a:accent1>
        <a:srgbClr val="E2231A"/>
      </a:accent1>
      <a:accent2>
        <a:srgbClr val="1C3A63"/>
      </a:accent2>
      <a:accent3>
        <a:srgbClr val="1E8E4E"/>
      </a:accent3>
      <a:accent4>
        <a:srgbClr val="D97706"/>
      </a:accent4>
      <a:accent5>
        <a:srgbClr val="DCE5F2"/>
      </a:accent5>
      <a:accent6>
        <a:srgbClr val="5B6475"/>
      </a:accent6>
      <a:hlink>
        <a:srgbClr val="1C3A63"/>
      </a:hlink>
      <a:folHlink>
        <a:srgbClr val="5B6475"/>
      </a:folHlink>
    </a:clrScheme>
    <a:fontScheme name="Cruz del Su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Cruz del Sur - Trazabilidad del equipaje de bodega</dc:title>
  <dc:subject>IS276 - Trabajo final</dc:subject>
  <dc:creator>Grupo 6 - IS276</dc:creator>
  <cp:lastModifiedBy>Grupo 6 - IS276</cp:lastModifiedBy>
  <cp:revision>1</cp:revision>
  <dcterms:created xsi:type="dcterms:W3CDTF">2026-10-13T15:01:06Z</dcterms:created>
  <dcterms:modified xsi:type="dcterms:W3CDTF">2026-10-13T15:01:06Z</dcterms:modified>
</cp:coreProperties>
</file>